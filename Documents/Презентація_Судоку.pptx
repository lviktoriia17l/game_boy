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9" d="100"/>
          <a:sy n="79" d="100"/>
        </p:scale>
        <p:origin x="7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CBBB-56C3-4838-9E96-EAF1D9DC7621}" type="datetimeFigureOut">
              <a:rPr lang="uk-UA" smtClean="0"/>
              <a:t>30.01.2026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324A-4853-47FB-8425-BE1671FDF73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5679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’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CBBB-56C3-4838-9E96-EAF1D9DC7621}" type="datetimeFigureOut">
              <a:rPr lang="uk-UA" smtClean="0"/>
              <a:t>30.01.2026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324A-4853-47FB-8425-BE1671FDF73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69740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CBBB-56C3-4838-9E96-EAF1D9DC7621}" type="datetimeFigureOut">
              <a:rPr lang="uk-UA" smtClean="0"/>
              <a:t>30.01.2026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324A-4853-47FB-8425-BE1671FDF73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75153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CBBB-56C3-4838-9E96-EAF1D9DC7621}" type="datetimeFigureOut">
              <a:rPr lang="uk-UA" smtClean="0"/>
              <a:t>30.01.2026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324A-4853-47FB-8425-BE1671FDF73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05538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CBBB-56C3-4838-9E96-EAF1D9DC7621}" type="datetimeFigureOut">
              <a:rPr lang="uk-UA" smtClean="0"/>
              <a:t>30.01.2026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324A-4853-47FB-8425-BE1671FDF73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64812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CBBB-56C3-4838-9E96-EAF1D9DC7621}" type="datetimeFigureOut">
              <a:rPr lang="uk-UA" smtClean="0"/>
              <a:t>30.01.2026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324A-4853-47FB-8425-BE1671FDF73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80643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CBBB-56C3-4838-9E96-EAF1D9DC7621}" type="datetimeFigureOut">
              <a:rPr lang="uk-UA" smtClean="0"/>
              <a:t>30.01.2026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324A-4853-47FB-8425-BE1671FDF73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25801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CBBB-56C3-4838-9E96-EAF1D9DC7621}" type="datetimeFigureOut">
              <a:rPr lang="uk-UA" smtClean="0"/>
              <a:t>30.01.2026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324A-4853-47FB-8425-BE1671FDF73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48499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CBBB-56C3-4838-9E96-EAF1D9DC7621}" type="datetimeFigureOut">
              <a:rPr lang="uk-UA" smtClean="0"/>
              <a:t>30.01.2026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324A-4853-47FB-8425-BE1671FDF73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06804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CBBB-56C3-4838-9E96-EAF1D9DC7621}" type="datetimeFigureOut">
              <a:rPr lang="uk-UA" smtClean="0"/>
              <a:t>30.01.2026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324A-4853-47FB-8425-BE1671FDF73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8557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CBBB-56C3-4838-9E96-EAF1D9DC7621}" type="datetimeFigureOut">
              <a:rPr lang="uk-UA" smtClean="0"/>
              <a:t>30.01.2026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324A-4853-47FB-8425-BE1671FDF73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67641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Редагувати стиль зразка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5CBBB-56C3-4838-9E96-EAF1D9DC7621}" type="datetimeFigureOut">
              <a:rPr lang="uk-UA" smtClean="0"/>
              <a:t>30.01.2026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8324A-4853-47FB-8425-BE1671FDF73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61502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1026" name="Picture 2" descr="Фон с компьютером для презентации - Zefirka.club фото и картинк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589847" y="21622"/>
            <a:ext cx="60324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Arial Black" panose="020B0A04020102020204" pitchFamily="34" charset="0"/>
              </a:rPr>
              <a:t>SUDOKU GAME</a:t>
            </a:r>
            <a:endParaRPr lang="uk-UA" sz="5400" dirty="0"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19199" y="778451"/>
            <a:ext cx="5373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Над проєктом працювали: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12" y="403613"/>
            <a:ext cx="3551912" cy="3398434"/>
          </a:xfrm>
          <a:prstGeom prst="rect">
            <a:avLst/>
          </a:prstGeom>
        </p:spPr>
      </p:pic>
      <p:pic>
        <p:nvPicPr>
          <p:cNvPr id="8" name="Рисунок 7" descr="Зображення, що містить Обличчя людини, одежа, особа, стіна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5AFF3144-1043-0D95-C516-ABCBA24556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2"/>
          <a:stretch>
            <a:fillRect/>
          </a:stretch>
        </p:blipFill>
        <p:spPr>
          <a:xfrm>
            <a:off x="3840807" y="1147783"/>
            <a:ext cx="1422319" cy="2527011"/>
          </a:xfrm>
          <a:prstGeom prst="rect">
            <a:avLst/>
          </a:prstGeom>
        </p:spPr>
      </p:pic>
      <p:pic>
        <p:nvPicPr>
          <p:cNvPr id="10" name="Рисунок 9" descr="Зображення, що містить Обличчя людини, особа, одежа, портрет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48AF0E8B-ACFB-9436-3962-D1F5DED495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498" y="1166785"/>
            <a:ext cx="1422319" cy="2528569"/>
          </a:xfrm>
          <a:prstGeom prst="rect">
            <a:avLst/>
          </a:prstGeom>
        </p:spPr>
      </p:pic>
      <p:pic>
        <p:nvPicPr>
          <p:cNvPr id="12" name="Рисунок 11" descr="Зображення, що містить особа, Обличчя людини, одежа, стіна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1FD6107A-3844-95C8-F5C8-4EFB4D83C36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4" r="11589"/>
          <a:stretch>
            <a:fillRect/>
          </a:stretch>
        </p:blipFill>
        <p:spPr>
          <a:xfrm>
            <a:off x="8386658" y="1164575"/>
            <a:ext cx="1422319" cy="25270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5BDED25-6B68-B61C-DB6D-8F745EF001B7}"/>
              </a:ext>
            </a:extLst>
          </p:cNvPr>
          <p:cNvSpPr txBox="1"/>
          <p:nvPr/>
        </p:nvSpPr>
        <p:spPr>
          <a:xfrm>
            <a:off x="2859775" y="4387221"/>
            <a:ext cx="28501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/>
              <a:t>Vladislav </a:t>
            </a:r>
            <a:r>
              <a:rPr lang="en-US" sz="2200" dirty="0" err="1"/>
              <a:t>Khiras</a:t>
            </a:r>
            <a:r>
              <a:rPr lang="en-US" sz="2200" dirty="0"/>
              <a:t> </a:t>
            </a:r>
          </a:p>
          <a:p>
            <a:pPr algn="just"/>
            <a:r>
              <a:rPr lang="en-US" sz="2200" dirty="0"/>
              <a:t>(KL-Mort) </a:t>
            </a:r>
          </a:p>
          <a:p>
            <a:pPr algn="just"/>
            <a:r>
              <a:rPr lang="en-US" sz="2200" dirty="0"/>
              <a:t>Main role in the team: implementation of all functions on STM and UART protocol</a:t>
            </a:r>
            <a:endParaRPr lang="uk-UA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917501-9DEA-E377-1262-6353D1EFC49B}"/>
              </a:ext>
            </a:extLst>
          </p:cNvPr>
          <p:cNvSpPr txBox="1"/>
          <p:nvPr/>
        </p:nvSpPr>
        <p:spPr>
          <a:xfrm>
            <a:off x="6096000" y="4366654"/>
            <a:ext cx="217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uk-U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B4FD54-C9EC-0CB8-CDD0-AC870046EAFE}"/>
              </a:ext>
            </a:extLst>
          </p:cNvPr>
          <p:cNvSpPr txBox="1"/>
          <p:nvPr/>
        </p:nvSpPr>
        <p:spPr>
          <a:xfrm>
            <a:off x="5919199" y="4429919"/>
            <a:ext cx="300181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/>
              <a:t>Roman </a:t>
            </a:r>
            <a:r>
              <a:rPr lang="en-US" sz="2200" dirty="0" err="1"/>
              <a:t>Siokalo</a:t>
            </a:r>
            <a:endParaRPr lang="en-US" sz="2200" dirty="0"/>
          </a:p>
          <a:p>
            <a:pPr algn="just"/>
            <a:r>
              <a:rPr lang="en-US" sz="2200" dirty="0"/>
              <a:t>(roma2005n) </a:t>
            </a:r>
          </a:p>
          <a:p>
            <a:pPr algn="just"/>
            <a:r>
              <a:rPr lang="en-US" sz="2200" dirty="0"/>
              <a:t>Key role in the team, implementation of most functions for the UI interface </a:t>
            </a:r>
            <a:endParaRPr lang="uk-UA" sz="2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41E764-FA11-1537-CD69-1ADF32211AD4}"/>
              </a:ext>
            </a:extLst>
          </p:cNvPr>
          <p:cNvSpPr txBox="1"/>
          <p:nvPr/>
        </p:nvSpPr>
        <p:spPr>
          <a:xfrm>
            <a:off x="9069454" y="3802047"/>
            <a:ext cx="2974109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100" dirty="0" err="1"/>
              <a:t>Nikolaichuy</a:t>
            </a:r>
            <a:r>
              <a:rPr lang="en-US" sz="2100" dirty="0"/>
              <a:t> Igor</a:t>
            </a:r>
          </a:p>
          <a:p>
            <a:pPr algn="just"/>
            <a:r>
              <a:rPr lang="en-US" sz="2100" dirty="0"/>
              <a:t>(</a:t>
            </a:r>
            <a:r>
              <a:rPr lang="en-US" sz="2100" dirty="0" err="1"/>
              <a:t>grinsidewest</a:t>
            </a:r>
            <a:r>
              <a:rPr lang="en-US" sz="2100" dirty="0"/>
              <a:t>) Main role in the </a:t>
            </a:r>
            <a:r>
              <a:rPr lang="en-US" sz="2100" dirty="0" err="1"/>
              <a:t>teamCreation</a:t>
            </a:r>
            <a:r>
              <a:rPr lang="en-US" sz="2100" dirty="0"/>
              <a:t> and partial implementation of the protocol on platforms and correction of some functions in the interface </a:t>
            </a:r>
            <a:endParaRPr lang="uk-UA" sz="2100" dirty="0"/>
          </a:p>
        </p:txBody>
      </p:sp>
    </p:spTree>
    <p:extLst>
      <p:ext uri="{BB962C8B-B14F-4D97-AF65-F5344CB8AC3E}">
        <p14:creationId xmlns:p14="http://schemas.microsoft.com/office/powerpoint/2010/main" val="2937534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1026" name="Picture 2" descr="Фон с компьютером для презентации - Zefirka.club фото и картинк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886960" y="426720"/>
            <a:ext cx="60324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Arial Black" panose="020B0A04020102020204" pitchFamily="34" charset="0"/>
              </a:rPr>
              <a:t>SUDOKU GAME</a:t>
            </a:r>
            <a:endParaRPr lang="uk-UA" sz="5400" dirty="0"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60873" y="2201654"/>
            <a:ext cx="58475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Our project features a Sudoku mathematical puzzle implemented with a distributed system architecture. The system is split into two primary layers: computing logic executed on an </a:t>
            </a:r>
            <a:r>
              <a:rPr lang="en-US" sz="2400" b="1" dirty="0"/>
              <a:t>STM32</a:t>
            </a:r>
            <a:r>
              <a:rPr lang="en-US" sz="2400" dirty="0"/>
              <a:t> microcontroller (C-based backend) and a graphical user interface (GUI) developed in </a:t>
            </a:r>
            <a:r>
              <a:rPr lang="en-US" sz="2400" b="1" dirty="0"/>
              <a:t>Python</a:t>
            </a:r>
            <a:r>
              <a:rPr lang="en-US" sz="2400" dirty="0"/>
              <a:t> using the </a:t>
            </a:r>
            <a:r>
              <a:rPr lang="en-US" sz="2400" dirty="0" err="1"/>
              <a:t>Tkinter</a:t>
            </a:r>
            <a:r>
              <a:rPr lang="en-US" sz="2400" dirty="0"/>
              <a:t> library.</a:t>
            </a:r>
            <a:endParaRPr lang="uk-UA" sz="22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6" name="Picture 2" descr="Яркие примеры судоку: картинки и решения &gt;&gt; Галерея впечатлений ...">
            <a:extLst>
              <a:ext uri="{FF2B5EF4-FFF2-40B4-BE49-F238E27FC236}">
                <a16:creationId xmlns:a16="http://schemas.microsoft.com/office/drawing/2014/main" id="{4D0739CC-C2E1-6FA5-6C76-3366933A1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23863"/>
            <a:ext cx="451485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Судоку: від математичних квадратів до світової популярності - MIC">
            <a:extLst>
              <a:ext uri="{FF2B5EF4-FFF2-40B4-BE49-F238E27FC236}">
                <a16:creationId xmlns:a16="http://schemas.microsoft.com/office/drawing/2014/main" id="{FC2E29C3-586C-17AD-496C-262D7661C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619" y="3365501"/>
            <a:ext cx="4514850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668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1026" name="Picture 2" descr="Фон с компьютером для презентации - Zefirka.club фото и картинк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076083" y="246525"/>
            <a:ext cx="60324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Arial Black" panose="020B0A04020102020204" pitchFamily="34" charset="0"/>
              </a:rPr>
              <a:t>SUDOKU GAME</a:t>
            </a:r>
            <a:endParaRPr lang="uk-UA" sz="5400" dirty="0"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CD5596-954E-9A85-938F-E488B8F4411C}"/>
              </a:ext>
            </a:extLst>
          </p:cNvPr>
          <p:cNvSpPr txBox="1"/>
          <p:nvPr/>
        </p:nvSpPr>
        <p:spPr>
          <a:xfrm>
            <a:off x="6393636" y="1090794"/>
            <a:ext cx="5036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Team Roles &amp;</a:t>
            </a:r>
            <a:r>
              <a:rPr lang="uk-UA" sz="2400" b="1" dirty="0"/>
              <a:t> </a:t>
            </a:r>
            <a:r>
              <a:rPr lang="en-US" sz="2400" b="1" dirty="0"/>
              <a:t>Responsibilities</a:t>
            </a:r>
            <a:endParaRPr lang="uk-UA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27B9BE-33B8-496B-F36C-9563E216C498}"/>
              </a:ext>
            </a:extLst>
          </p:cNvPr>
          <p:cNvSpPr txBox="1"/>
          <p:nvPr/>
        </p:nvSpPr>
        <p:spPr>
          <a:xfrm>
            <a:off x="6086352" y="1691587"/>
            <a:ext cx="5987457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/>
              <a:t>Vladyslav Khirash (KL-Mort)</a:t>
            </a:r>
            <a:endParaRPr lang="en-US" sz="2200" dirty="0"/>
          </a:p>
          <a:p>
            <a:pPr algn="just"/>
            <a:r>
              <a:rPr lang="en-US" sz="2200" b="1" dirty="0"/>
              <a:t>Full-cycle STM32 Firmware Development:</a:t>
            </a:r>
            <a:r>
              <a:rPr lang="en-US" sz="2200" dirty="0"/>
              <a:t> Implemented UART drivers, interrupts, and system timers.</a:t>
            </a:r>
          </a:p>
          <a:p>
            <a:pPr algn="just"/>
            <a:r>
              <a:rPr lang="en-US" sz="2200" b="1" dirty="0"/>
              <a:t>Algorithm Engineering:</a:t>
            </a:r>
            <a:r>
              <a:rPr lang="en-US" sz="2200" dirty="0"/>
              <a:t> Developed the random Sudoku matrix generation algorithm and game rule validation logic.</a:t>
            </a:r>
          </a:p>
          <a:p>
            <a:pPr algn="just"/>
            <a:r>
              <a:rPr lang="en-US" sz="2200" b="1" dirty="0"/>
              <a:t>System Integration:</a:t>
            </a:r>
            <a:r>
              <a:rPr lang="en-US" sz="2200" dirty="0"/>
              <a:t> Managed state synchronization between hardware and PC.</a:t>
            </a:r>
          </a:p>
          <a:p>
            <a:pPr algn="just"/>
            <a:r>
              <a:rPr lang="en-US" sz="2200" b="1" dirty="0"/>
              <a:t>Roman </a:t>
            </a:r>
            <a:r>
              <a:rPr lang="en-US" sz="2200" b="1" dirty="0" err="1"/>
              <a:t>Syokalo</a:t>
            </a:r>
            <a:r>
              <a:rPr lang="en-US" sz="2200" b="1" dirty="0"/>
              <a:t> (roma2005n)</a:t>
            </a:r>
            <a:endParaRPr lang="en-US" sz="2200" dirty="0"/>
          </a:p>
          <a:p>
            <a:pPr algn="just"/>
            <a:r>
              <a:rPr lang="en-US" sz="2200" b="1" dirty="0"/>
              <a:t>UI Architecture:</a:t>
            </a:r>
            <a:r>
              <a:rPr lang="en-US" sz="2200" dirty="0"/>
              <a:t> Developed the base interface layout using the </a:t>
            </a:r>
            <a:r>
              <a:rPr lang="en-US" sz="2200" b="1" dirty="0" err="1"/>
              <a:t>Tkinter</a:t>
            </a:r>
            <a:r>
              <a:rPr lang="en-US" sz="2200" dirty="0"/>
              <a:t> library.</a:t>
            </a:r>
          </a:p>
          <a:p>
            <a:pPr algn="just"/>
            <a:r>
              <a:rPr lang="en-US" sz="2200" b="1" dirty="0"/>
              <a:t>Front-end Development:</a:t>
            </a:r>
            <a:r>
              <a:rPr lang="en-US" sz="2200" dirty="0"/>
              <a:t> Implemented visual menu elements and core gaming features</a:t>
            </a:r>
            <a:r>
              <a:rPr lang="en-US" sz="24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9AF01C-CD68-5635-8F83-8726389B8B70}"/>
              </a:ext>
            </a:extLst>
          </p:cNvPr>
          <p:cNvSpPr txBox="1"/>
          <p:nvPr/>
        </p:nvSpPr>
        <p:spPr>
          <a:xfrm>
            <a:off x="1684589" y="3944777"/>
            <a:ext cx="441141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/>
              <a:t>Ihor </a:t>
            </a:r>
            <a:r>
              <a:rPr lang="en-US" sz="2200" b="1" dirty="0" err="1"/>
              <a:t>Nikolaihcuk</a:t>
            </a:r>
            <a:r>
              <a:rPr lang="en-US" sz="2200" b="1" dirty="0"/>
              <a:t> (</a:t>
            </a:r>
            <a:r>
              <a:rPr lang="en-US" sz="2200" b="1" dirty="0" err="1"/>
              <a:t>grinsidewest</a:t>
            </a:r>
            <a:r>
              <a:rPr lang="en-US" sz="2200" b="1" dirty="0"/>
              <a:t>)</a:t>
            </a:r>
            <a:endParaRPr lang="en-US" sz="2200" dirty="0"/>
          </a:p>
          <a:p>
            <a:pPr algn="just"/>
            <a:r>
              <a:rPr lang="en-US" sz="2200" b="1" dirty="0"/>
              <a:t>Protocol Development:</a:t>
            </a:r>
            <a:r>
              <a:rPr lang="en-US" sz="2200" dirty="0"/>
              <a:t> Designed and partially implemented the inter-system communication protocol.</a:t>
            </a:r>
          </a:p>
          <a:p>
            <a:pPr algn="just"/>
            <a:r>
              <a:rPr lang="en-US" sz="2200" b="1" dirty="0"/>
              <a:t>Testing &amp; Development:</a:t>
            </a:r>
            <a:r>
              <a:rPr lang="en-US" sz="2200" dirty="0"/>
              <a:t> Performed functional UI testing and contributed to interface creation.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A4ECA41-22BC-C622-3263-2E2559B06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187" y="1543182"/>
            <a:ext cx="3167974" cy="215442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843106-AC9D-EF91-89DC-787FDCB32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600" y="877902"/>
            <a:ext cx="3660987" cy="213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948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Фон с компьютером для презентации - Zefirka.club фото и картинки">
            <a:extLst>
              <a:ext uri="{FF2B5EF4-FFF2-40B4-BE49-F238E27FC236}">
                <a16:creationId xmlns:a16="http://schemas.microsoft.com/office/drawing/2014/main" id="{31054567-FFDA-5C1E-FABD-D8E088974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B1C3FF-1624-0880-A5AC-6572D527C3D4}"/>
              </a:ext>
            </a:extLst>
          </p:cNvPr>
          <p:cNvSpPr txBox="1"/>
          <p:nvPr/>
        </p:nvSpPr>
        <p:spPr>
          <a:xfrm>
            <a:off x="4886960" y="426720"/>
            <a:ext cx="60324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Arial Black" panose="020B0A04020102020204" pitchFamily="34" charset="0"/>
              </a:rPr>
              <a:t>SUDOKU GAME</a:t>
            </a:r>
            <a:endParaRPr lang="uk-UA" sz="5400" dirty="0">
              <a:latin typeface="Arial Black" panose="020B0A040201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07AB6A9-E5AC-CFF9-D1D8-8E9B4A77A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00" y="877902"/>
            <a:ext cx="3660987" cy="21310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F27D3E-CD13-53EC-C9FA-5685EFA6B9A2}"/>
              </a:ext>
            </a:extLst>
          </p:cNvPr>
          <p:cNvSpPr txBox="1"/>
          <p:nvPr/>
        </p:nvSpPr>
        <p:spPr>
          <a:xfrm>
            <a:off x="5505174" y="1350050"/>
            <a:ext cx="63085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The system logic is split between an </a:t>
            </a:r>
            <a:r>
              <a:rPr lang="en-US" sz="2400" b="1" dirty="0"/>
              <a:t>STM32</a:t>
            </a:r>
            <a:r>
              <a:rPr lang="en-US" sz="2400" dirty="0"/>
              <a:t> (C-based backend) and </a:t>
            </a:r>
            <a:r>
              <a:rPr lang="en-US" sz="2400" b="1" dirty="0"/>
              <a:t>Python</a:t>
            </a:r>
            <a:r>
              <a:rPr lang="en-US" sz="2400" dirty="0"/>
              <a:t> (</a:t>
            </a:r>
            <a:r>
              <a:rPr lang="en-US" sz="2400" dirty="0" err="1"/>
              <a:t>Tkinter</a:t>
            </a:r>
            <a:r>
              <a:rPr lang="en-US" sz="2400" dirty="0"/>
              <a:t>-based frontend). I designed the firmware architecture, along with the move generation and validation algorithms, and resolved critical bugs related to port logic and keyboard focus. Data exchange is handled via </a:t>
            </a:r>
            <a:r>
              <a:rPr lang="en-US" sz="2400" b="1" dirty="0"/>
              <a:t>UART</a:t>
            </a:r>
            <a:r>
              <a:rPr lang="en-US" sz="2400" dirty="0"/>
              <a:t> at 115200 baud using a </a:t>
            </a:r>
            <a:r>
              <a:rPr lang="en-US" sz="2400" b="1" dirty="0"/>
              <a:t>proprietary protocol</a:t>
            </a:r>
            <a:r>
              <a:rPr lang="en-US" sz="2400" dirty="0"/>
              <a:t> with 6/84-byte packets and XOR checksum protection. Implementing </a:t>
            </a:r>
            <a:r>
              <a:rPr lang="en-US" sz="2400" b="1" dirty="0"/>
              <a:t>multithreading</a:t>
            </a:r>
            <a:r>
              <a:rPr lang="en-US" sz="2400" dirty="0"/>
              <a:t> in Python eliminated UI lag, while </a:t>
            </a:r>
            <a:r>
              <a:rPr lang="en-US" sz="2400" b="1" dirty="0"/>
              <a:t>STM32CubeIDE</a:t>
            </a:r>
            <a:r>
              <a:rPr lang="en-US" sz="2400" dirty="0"/>
              <a:t> and </a:t>
            </a:r>
            <a:r>
              <a:rPr lang="en-US" sz="2400" b="1" dirty="0"/>
              <a:t>Git</a:t>
            </a:r>
            <a:r>
              <a:rPr lang="en-US" sz="2400" dirty="0"/>
              <a:t> were utilized to ensure system stability and version control</a:t>
            </a:r>
            <a:endParaRPr lang="uk-UA" sz="22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0F3D5BE-ACC7-073C-27EF-18466EE10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093" y="2446007"/>
            <a:ext cx="3167974" cy="215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585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1026" name="Picture 2" descr="Фон с компьютером для презентации - Zefirka.club фото и картинк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886960" y="426720"/>
            <a:ext cx="60324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Arial Black" panose="020B0A04020102020204" pitchFamily="34" charset="0"/>
              </a:rPr>
              <a:t>SUDOKU GAME</a:t>
            </a:r>
            <a:endParaRPr lang="uk-UA" sz="5400" dirty="0">
              <a:latin typeface="Arial Black" panose="020B0A0402010202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89" y="2848510"/>
            <a:ext cx="3363606" cy="226958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D380BB3-4C62-933F-537E-1AC1B3FF2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32" y="767814"/>
            <a:ext cx="4810755" cy="309669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525287F-04BB-C940-93A3-2BEEEBC474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5457" y="3229583"/>
            <a:ext cx="4852877" cy="309669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DE2993A-8B37-8FCC-DB26-C50B4FCE2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16" y="3245123"/>
            <a:ext cx="3363606" cy="22695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6E649F7-A7E2-BBF1-BAA1-C60F4A63449B}"/>
              </a:ext>
            </a:extLst>
          </p:cNvPr>
          <p:cNvSpPr txBox="1"/>
          <p:nvPr/>
        </p:nvSpPr>
        <p:spPr>
          <a:xfrm>
            <a:off x="7451387" y="1770434"/>
            <a:ext cx="426071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/>
              <a:t>We have developed a complete Sudoku game featuring three difficulty levels, procedural level generation, and a hint system for players. Hardware integration is established via </a:t>
            </a:r>
            <a:r>
              <a:rPr lang="en-US" sz="2200" b="1" dirty="0"/>
              <a:t>UART</a:t>
            </a:r>
            <a:r>
              <a:rPr lang="en-US" sz="2200" dirty="0"/>
              <a:t>, utilizing a </a:t>
            </a:r>
            <a:r>
              <a:rPr lang="en-US" sz="2200" b="1" dirty="0"/>
              <a:t>custom communication protocol</a:t>
            </a:r>
            <a:r>
              <a:rPr lang="en-US" sz="2200" dirty="0"/>
              <a:t> with </a:t>
            </a:r>
            <a:r>
              <a:rPr lang="en-US" sz="2200" b="1" dirty="0"/>
              <a:t>XOR checksum</a:t>
            </a:r>
            <a:r>
              <a:rPr lang="en-US" sz="2200" dirty="0"/>
              <a:t> validation.</a:t>
            </a:r>
            <a:endParaRPr lang="uk-UA" sz="2200" dirty="0"/>
          </a:p>
        </p:txBody>
      </p:sp>
    </p:spTree>
    <p:extLst>
      <p:ext uri="{BB962C8B-B14F-4D97-AF65-F5344CB8AC3E}">
        <p14:creationId xmlns:p14="http://schemas.microsoft.com/office/powerpoint/2010/main" val="3580679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1026" name="Picture 2" descr="Фон с компьютером для презентации - Zefirka.club фото и картинк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782788" y="176471"/>
            <a:ext cx="60324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Arial Black" panose="020B0A04020102020204" pitchFamily="34" charset="0"/>
              </a:rPr>
              <a:t>SUDOKU GAME</a:t>
            </a:r>
            <a:endParaRPr lang="uk-UA" sz="5400" dirty="0"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07465" y="965467"/>
            <a:ext cx="8729264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/>
              <a:t>Integrated System: </a:t>
            </a:r>
            <a:r>
              <a:rPr lang="en-US" sz="2200" dirty="0"/>
              <a:t>Developed a robust hardware-software ecosystem using a distributed architecture between an STM32 microcontroller and a PC via UART.</a:t>
            </a:r>
          </a:p>
          <a:p>
            <a:pPr algn="just"/>
            <a:r>
              <a:rPr lang="en-US" sz="2200" b="1" dirty="0"/>
              <a:t>Core Logic</a:t>
            </a:r>
            <a:r>
              <a:rPr lang="en-US" sz="2200" dirty="0"/>
              <a:t>: Offloaded 100% of game logic to the STM32, including real-time grid generation, move validation, and game-state monitoring.</a:t>
            </a:r>
          </a:p>
          <a:p>
            <a:pPr algn="just"/>
            <a:r>
              <a:rPr lang="en-US" sz="2200" b="1" dirty="0"/>
              <a:t>Robust Communication: </a:t>
            </a:r>
            <a:r>
              <a:rPr lang="en-US" sz="2200" dirty="0"/>
              <a:t>Implemented a custom protocol featuring variable-length packets (6/84 bytes) and XOR-based checksums for high data integrity.</a:t>
            </a:r>
          </a:p>
          <a:p>
            <a:pPr algn="just"/>
            <a:r>
              <a:rPr lang="en-US" sz="2200" b="1" dirty="0"/>
              <a:t>Resilient UX: </a:t>
            </a:r>
            <a:r>
              <a:rPr lang="en-US" sz="2200" dirty="0"/>
              <a:t>Built a multi-threaded Python GUI that supports dynamic difficulty levels, interactive hints, and automated serial port reconnection logic.</a:t>
            </a:r>
          </a:p>
          <a:p>
            <a:pPr algn="just"/>
            <a:r>
              <a:rPr lang="en-US" sz="2200" b="1" dirty="0"/>
              <a:t>Engineering Value: </a:t>
            </a:r>
            <a:r>
              <a:rPr lang="en-US" sz="2200" dirty="0"/>
              <a:t>Demonstrated practical synchronization of embedded firmware and high-level software for complex, real-time applications.</a:t>
            </a:r>
            <a:endParaRPr lang="uk-UA" sz="2200" dirty="0"/>
          </a:p>
        </p:txBody>
      </p:sp>
    </p:spTree>
    <p:extLst>
      <p:ext uri="{BB962C8B-B14F-4D97-AF65-F5344CB8AC3E}">
        <p14:creationId xmlns:p14="http://schemas.microsoft.com/office/powerpoint/2010/main" val="4633052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481</Words>
  <Application>Microsoft Office PowerPoint</Application>
  <PresentationFormat>Широкий екран</PresentationFormat>
  <Paragraphs>34</Paragraphs>
  <Slides>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Times New Roman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Сьокало Роман</dc:creator>
  <cp:lastModifiedBy>Влад Хіраш</cp:lastModifiedBy>
  <cp:revision>7</cp:revision>
  <dcterms:created xsi:type="dcterms:W3CDTF">2026-01-28T12:30:27Z</dcterms:created>
  <dcterms:modified xsi:type="dcterms:W3CDTF">2026-01-30T09:33:56Z</dcterms:modified>
</cp:coreProperties>
</file>